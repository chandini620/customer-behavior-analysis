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7944"/>
    <a:srgbClr val="D8C82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1330" y="-5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A6EFE-EF78-43C6-9646-2A7CF5AF2926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BCD41408-7E1E-4646-BEB0-6D50E7B6CC68}">
      <dgm:prSet phldrT="[Text]" custT="1"/>
      <dgm:spPr>
        <a:solidFill>
          <a:srgbClr val="517944"/>
        </a:solidFill>
      </dgm:spPr>
      <dgm:t>
        <a:bodyPr/>
        <a:lstStyle/>
        <a:p>
          <a:r>
            <a:rPr lang="en-US" sz="2400" b="1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2%</a:t>
          </a:r>
          <a:endParaRPr lang="en-US" sz="2400" b="1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2A2A6F47-DB77-42AE-841F-419A5658C969}" type="parTrans" cxnId="{CE7E23D5-19E5-452C-931E-462E17236B66}">
      <dgm:prSet/>
      <dgm:spPr/>
      <dgm:t>
        <a:bodyPr/>
        <a:lstStyle/>
        <a:p>
          <a:endParaRPr lang="en-US"/>
        </a:p>
      </dgm:t>
    </dgm:pt>
    <dgm:pt modelId="{C09C1833-505C-4D24-9C75-4EE135ED750E}" type="sibTrans" cxnId="{CE7E23D5-19E5-452C-931E-462E17236B66}">
      <dgm:prSet/>
      <dgm:spPr/>
      <dgm:t>
        <a:bodyPr/>
        <a:lstStyle/>
        <a:p>
          <a:endParaRPr lang="en-US"/>
        </a:p>
      </dgm:t>
    </dgm:pt>
    <dgm:pt modelId="{603FF380-847E-4982-896D-9BB85CC3B4A4}">
      <dgm:prSet phldrT="[Text]" custT="1"/>
      <dgm:spPr>
        <a:solidFill>
          <a:srgbClr val="517944"/>
        </a:solidFill>
      </dgm:spPr>
      <dgm:t>
        <a:bodyPr/>
        <a:lstStyle/>
        <a:p>
          <a:r>
            <a:rPr lang="en-US" sz="3200" b="1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18%</a:t>
          </a:r>
          <a:endParaRPr lang="en-US" sz="3200" b="1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724DB214-D3D6-4619-8D2E-C6D5ADC7FA00}" type="parTrans" cxnId="{4932C671-58F1-4DCD-989F-49647831568A}">
      <dgm:prSet/>
      <dgm:spPr/>
      <dgm:t>
        <a:bodyPr/>
        <a:lstStyle/>
        <a:p>
          <a:endParaRPr lang="en-US"/>
        </a:p>
      </dgm:t>
    </dgm:pt>
    <dgm:pt modelId="{3C254C86-87C8-48E1-805A-F1B9A9986D43}" type="sibTrans" cxnId="{4932C671-58F1-4DCD-989F-49647831568A}">
      <dgm:prSet/>
      <dgm:spPr/>
      <dgm:t>
        <a:bodyPr/>
        <a:lstStyle/>
        <a:p>
          <a:endParaRPr lang="en-US"/>
        </a:p>
      </dgm:t>
    </dgm:pt>
    <dgm:pt modelId="{E9891CD5-BA06-42F2-92AA-F88856BF41C6}">
      <dgm:prSet phldrT="[Text]" custT="1"/>
      <dgm:spPr>
        <a:solidFill>
          <a:srgbClr val="517944"/>
        </a:solidFill>
      </dgm:spPr>
      <dgm:t>
        <a:bodyPr/>
        <a:lstStyle/>
        <a:p>
          <a:r>
            <a:rPr lang="en-US" sz="3600" b="1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79%</a:t>
          </a:r>
          <a:endParaRPr lang="en-US" sz="3600" b="1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AAB29EE1-8017-4141-8FBA-A5E5FAF3C42D}" type="parTrans" cxnId="{667FF89D-2908-4F58-A79E-1F0F0A0C023A}">
      <dgm:prSet/>
      <dgm:spPr/>
      <dgm:t>
        <a:bodyPr/>
        <a:lstStyle/>
        <a:p>
          <a:endParaRPr lang="en-US"/>
        </a:p>
      </dgm:t>
    </dgm:pt>
    <dgm:pt modelId="{429C308D-0E9F-48FA-9BE7-D438C67FA4DD}" type="sibTrans" cxnId="{667FF89D-2908-4F58-A79E-1F0F0A0C023A}">
      <dgm:prSet/>
      <dgm:spPr/>
      <dgm:t>
        <a:bodyPr/>
        <a:lstStyle/>
        <a:p>
          <a:endParaRPr lang="en-US"/>
        </a:p>
      </dgm:t>
    </dgm:pt>
    <dgm:pt modelId="{1FC6C56F-A1B2-408A-8D43-8A6767CD1E28}" type="pres">
      <dgm:prSet presAssocID="{CF9A6EFE-EF78-43C6-9646-2A7CF5AF2926}" presName="Name0" presStyleCnt="0">
        <dgm:presLayoutVars>
          <dgm:dir/>
          <dgm:animLvl val="lvl"/>
          <dgm:resizeHandles val="exact"/>
        </dgm:presLayoutVars>
      </dgm:prSet>
      <dgm:spPr/>
    </dgm:pt>
    <dgm:pt modelId="{1F313265-6199-43C0-A92B-D85F5096728F}" type="pres">
      <dgm:prSet presAssocID="{BCD41408-7E1E-4646-BEB0-6D50E7B6CC68}" presName="Name8" presStyleCnt="0"/>
      <dgm:spPr/>
    </dgm:pt>
    <dgm:pt modelId="{61F914BA-E09E-442D-A1C5-83FD5A2054E3}" type="pres">
      <dgm:prSet presAssocID="{BCD41408-7E1E-4646-BEB0-6D50E7B6CC68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3B1731-7907-46C8-8F7F-0E4DEADC13B4}" type="pres">
      <dgm:prSet presAssocID="{BCD41408-7E1E-4646-BEB0-6D50E7B6CC6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04A338-B799-4CFA-8CF3-512EEE8E08B6}" type="pres">
      <dgm:prSet presAssocID="{603FF380-847E-4982-896D-9BB85CC3B4A4}" presName="Name8" presStyleCnt="0"/>
      <dgm:spPr/>
    </dgm:pt>
    <dgm:pt modelId="{94566F96-DEBE-46F1-B9FA-F4B6BB861F66}" type="pres">
      <dgm:prSet presAssocID="{603FF380-847E-4982-896D-9BB85CC3B4A4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4260C-9ED6-48E7-A5EE-17318FB8FF7D}" type="pres">
      <dgm:prSet presAssocID="{603FF380-847E-4982-896D-9BB85CC3B4A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10ACA-A1D5-4E88-888A-F12E7C2286F5}" type="pres">
      <dgm:prSet presAssocID="{E9891CD5-BA06-42F2-92AA-F88856BF41C6}" presName="Name8" presStyleCnt="0"/>
      <dgm:spPr/>
    </dgm:pt>
    <dgm:pt modelId="{928B8BCA-0A4B-4170-959E-E08B9DC9D4F1}" type="pres">
      <dgm:prSet presAssocID="{E9891CD5-BA06-42F2-92AA-F88856BF41C6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7C071B-46EE-4544-9F0D-AE7F158F48C7}" type="pres">
      <dgm:prSet presAssocID="{E9891CD5-BA06-42F2-92AA-F88856BF41C6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932C671-58F1-4DCD-989F-49647831568A}" srcId="{CF9A6EFE-EF78-43C6-9646-2A7CF5AF2926}" destId="{603FF380-847E-4982-896D-9BB85CC3B4A4}" srcOrd="1" destOrd="0" parTransId="{724DB214-D3D6-4619-8D2E-C6D5ADC7FA00}" sibTransId="{3C254C86-87C8-48E1-805A-F1B9A9986D43}"/>
    <dgm:cxn modelId="{182F3CCB-13B2-4308-9135-4F67C2F1ABD9}" type="presOf" srcId="{BCD41408-7E1E-4646-BEB0-6D50E7B6CC68}" destId="{B03B1731-7907-46C8-8F7F-0E4DEADC13B4}" srcOrd="1" destOrd="0" presId="urn:microsoft.com/office/officeart/2005/8/layout/pyramid1"/>
    <dgm:cxn modelId="{5BE905F7-3221-450B-955B-D7E6656BB39E}" type="presOf" srcId="{603FF380-847E-4982-896D-9BB85CC3B4A4}" destId="{94566F96-DEBE-46F1-B9FA-F4B6BB861F66}" srcOrd="0" destOrd="0" presId="urn:microsoft.com/office/officeart/2005/8/layout/pyramid1"/>
    <dgm:cxn modelId="{ABE26FCA-38CD-49E2-B005-DEFAE44EB8F8}" type="presOf" srcId="{CF9A6EFE-EF78-43C6-9646-2A7CF5AF2926}" destId="{1FC6C56F-A1B2-408A-8D43-8A6767CD1E28}" srcOrd="0" destOrd="0" presId="urn:microsoft.com/office/officeart/2005/8/layout/pyramid1"/>
    <dgm:cxn modelId="{F71C5F8D-22AF-4634-B2BC-FDBF743B7FA1}" type="presOf" srcId="{E9891CD5-BA06-42F2-92AA-F88856BF41C6}" destId="{4D7C071B-46EE-4544-9F0D-AE7F158F48C7}" srcOrd="1" destOrd="0" presId="urn:microsoft.com/office/officeart/2005/8/layout/pyramid1"/>
    <dgm:cxn modelId="{667FF89D-2908-4F58-A79E-1F0F0A0C023A}" srcId="{CF9A6EFE-EF78-43C6-9646-2A7CF5AF2926}" destId="{E9891CD5-BA06-42F2-92AA-F88856BF41C6}" srcOrd="2" destOrd="0" parTransId="{AAB29EE1-8017-4141-8FBA-A5E5FAF3C42D}" sibTransId="{429C308D-0E9F-48FA-9BE7-D438C67FA4DD}"/>
    <dgm:cxn modelId="{14C43049-349C-4B24-8D0E-B76067FA676E}" type="presOf" srcId="{E9891CD5-BA06-42F2-92AA-F88856BF41C6}" destId="{928B8BCA-0A4B-4170-959E-E08B9DC9D4F1}" srcOrd="0" destOrd="0" presId="urn:microsoft.com/office/officeart/2005/8/layout/pyramid1"/>
    <dgm:cxn modelId="{93B7D6DD-BC99-424B-A385-A3FC0DBA5856}" type="presOf" srcId="{BCD41408-7E1E-4646-BEB0-6D50E7B6CC68}" destId="{61F914BA-E09E-442D-A1C5-83FD5A2054E3}" srcOrd="0" destOrd="0" presId="urn:microsoft.com/office/officeart/2005/8/layout/pyramid1"/>
    <dgm:cxn modelId="{D38AD1CC-5410-4285-BB96-A46AB220DD4B}" type="presOf" srcId="{603FF380-847E-4982-896D-9BB85CC3B4A4}" destId="{8F64260C-9ED6-48E7-A5EE-17318FB8FF7D}" srcOrd="1" destOrd="0" presId="urn:microsoft.com/office/officeart/2005/8/layout/pyramid1"/>
    <dgm:cxn modelId="{CE7E23D5-19E5-452C-931E-462E17236B66}" srcId="{CF9A6EFE-EF78-43C6-9646-2A7CF5AF2926}" destId="{BCD41408-7E1E-4646-BEB0-6D50E7B6CC68}" srcOrd="0" destOrd="0" parTransId="{2A2A6F47-DB77-42AE-841F-419A5658C969}" sibTransId="{C09C1833-505C-4D24-9C75-4EE135ED750E}"/>
    <dgm:cxn modelId="{1C9DBC6A-E9FB-409D-B2BF-D32112CFB3E5}" type="presParOf" srcId="{1FC6C56F-A1B2-408A-8D43-8A6767CD1E28}" destId="{1F313265-6199-43C0-A92B-D85F5096728F}" srcOrd="0" destOrd="0" presId="urn:microsoft.com/office/officeart/2005/8/layout/pyramid1"/>
    <dgm:cxn modelId="{121BE975-2A0C-4CFD-B3F7-9F2779ED9BD9}" type="presParOf" srcId="{1F313265-6199-43C0-A92B-D85F5096728F}" destId="{61F914BA-E09E-442D-A1C5-83FD5A2054E3}" srcOrd="0" destOrd="0" presId="urn:microsoft.com/office/officeart/2005/8/layout/pyramid1"/>
    <dgm:cxn modelId="{80CDFFB8-66F9-4D39-B126-BCD262949B5F}" type="presParOf" srcId="{1F313265-6199-43C0-A92B-D85F5096728F}" destId="{B03B1731-7907-46C8-8F7F-0E4DEADC13B4}" srcOrd="1" destOrd="0" presId="urn:microsoft.com/office/officeart/2005/8/layout/pyramid1"/>
    <dgm:cxn modelId="{0712B747-63ED-4018-92E8-151D21B36910}" type="presParOf" srcId="{1FC6C56F-A1B2-408A-8D43-8A6767CD1E28}" destId="{CA04A338-B799-4CFA-8CF3-512EEE8E08B6}" srcOrd="1" destOrd="0" presId="urn:microsoft.com/office/officeart/2005/8/layout/pyramid1"/>
    <dgm:cxn modelId="{430890C7-66E9-43C9-977B-DBB3D4B9732D}" type="presParOf" srcId="{CA04A338-B799-4CFA-8CF3-512EEE8E08B6}" destId="{94566F96-DEBE-46F1-B9FA-F4B6BB861F66}" srcOrd="0" destOrd="0" presId="urn:microsoft.com/office/officeart/2005/8/layout/pyramid1"/>
    <dgm:cxn modelId="{D9FA3406-CA02-45D7-84BD-54E399F2D23D}" type="presParOf" srcId="{CA04A338-B799-4CFA-8CF3-512EEE8E08B6}" destId="{8F64260C-9ED6-48E7-A5EE-17318FB8FF7D}" srcOrd="1" destOrd="0" presId="urn:microsoft.com/office/officeart/2005/8/layout/pyramid1"/>
    <dgm:cxn modelId="{6683073F-8366-43E5-9088-77FD3D3B7420}" type="presParOf" srcId="{1FC6C56F-A1B2-408A-8D43-8A6767CD1E28}" destId="{F3710ACA-A1D5-4E88-888A-F12E7C2286F5}" srcOrd="2" destOrd="0" presId="urn:microsoft.com/office/officeart/2005/8/layout/pyramid1"/>
    <dgm:cxn modelId="{3D71FCDA-17E4-415C-92D0-841DCDFE375C}" type="presParOf" srcId="{F3710ACA-A1D5-4E88-888A-F12E7C2286F5}" destId="{928B8BCA-0A4B-4170-959E-E08B9DC9D4F1}" srcOrd="0" destOrd="0" presId="urn:microsoft.com/office/officeart/2005/8/layout/pyramid1"/>
    <dgm:cxn modelId="{E7C7EB11-EE80-4AFA-9785-D0FE13C722D2}" type="presParOf" srcId="{F3710ACA-A1D5-4E88-888A-F12E7C2286F5}" destId="{4D7C071B-46EE-4544-9F0D-AE7F158F48C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914BA-E09E-442D-A1C5-83FD5A2054E3}">
      <dsp:nvSpPr>
        <dsp:cNvPr id="0" name=""/>
        <dsp:cNvSpPr/>
      </dsp:nvSpPr>
      <dsp:spPr>
        <a:xfrm>
          <a:off x="1463752" y="0"/>
          <a:ext cx="1463753" cy="1083584"/>
        </a:xfrm>
        <a:prstGeom prst="trapezoid">
          <a:avLst>
            <a:gd name="adj" fmla="val 67542"/>
          </a:avLst>
        </a:prstGeom>
        <a:solidFill>
          <a:srgbClr val="51794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2%</a:t>
          </a:r>
          <a:endParaRPr lang="en-US" sz="2400" b="1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1463752" y="0"/>
        <a:ext cx="1463753" cy="1083584"/>
      </dsp:txXfrm>
    </dsp:sp>
    <dsp:sp modelId="{94566F96-DEBE-46F1-B9FA-F4B6BB861F66}">
      <dsp:nvSpPr>
        <dsp:cNvPr id="0" name=""/>
        <dsp:cNvSpPr/>
      </dsp:nvSpPr>
      <dsp:spPr>
        <a:xfrm>
          <a:off x="731876" y="1083584"/>
          <a:ext cx="2927506" cy="1083584"/>
        </a:xfrm>
        <a:prstGeom prst="trapezoid">
          <a:avLst>
            <a:gd name="adj" fmla="val 67542"/>
          </a:avLst>
        </a:prstGeom>
        <a:solidFill>
          <a:srgbClr val="51794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18%</a:t>
          </a:r>
          <a:endParaRPr lang="en-US" sz="3200" b="1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1244190" y="1083584"/>
        <a:ext cx="1902878" cy="1083584"/>
      </dsp:txXfrm>
    </dsp:sp>
    <dsp:sp modelId="{928B8BCA-0A4B-4170-959E-E08B9DC9D4F1}">
      <dsp:nvSpPr>
        <dsp:cNvPr id="0" name=""/>
        <dsp:cNvSpPr/>
      </dsp:nvSpPr>
      <dsp:spPr>
        <a:xfrm>
          <a:off x="0" y="2167169"/>
          <a:ext cx="4391259" cy="1083584"/>
        </a:xfrm>
        <a:prstGeom prst="trapezoid">
          <a:avLst>
            <a:gd name="adj" fmla="val 67542"/>
          </a:avLst>
        </a:prstGeom>
        <a:solidFill>
          <a:srgbClr val="51794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79%</a:t>
          </a:r>
          <a:endParaRPr lang="en-US" sz="3600" b="1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768470" y="2167169"/>
        <a:ext cx="2854318" cy="1083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B17D2-4D0E-4DA1-BB55-7021C4333AB7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7F02F-96F4-4181-9076-7D21ED35BE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0917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48692" y="1122363"/>
            <a:ext cx="639137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48692" y="3602038"/>
            <a:ext cx="639137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034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99783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04734"/>
            <a:ext cx="10515600" cy="24722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779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755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242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7309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438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0059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757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9236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44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413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168C6-0DC0-4342-ACB1-9ADEB53C9AE0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42F4-7B52-4666-B5D1-96285A5BC2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8116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48692" y="1122363"/>
            <a:ext cx="6391374" cy="1847080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Customer </a:t>
            </a: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Shopping Insights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8437" y="2969443"/>
            <a:ext cx="6551629" cy="1655762"/>
          </a:xfrm>
        </p:spPr>
        <p:txBody>
          <a:bodyPr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Making business decisions based on insights uncovered from 3,900 purchases.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470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About the Dataset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167" y="3450210"/>
            <a:ext cx="10925666" cy="2472228"/>
          </a:xfrm>
        </p:spPr>
        <p:txBody>
          <a:bodyPr numCol="3" anchor="ctr">
            <a:normAutofit lnSpcReduction="10000"/>
          </a:bodyPr>
          <a:lstStyle/>
          <a:p>
            <a:pPr marL="0" indent="0" algn="ctr">
              <a:buNone/>
            </a:pPr>
            <a:endParaRPr lang="en-US" sz="30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3,900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Total Purchases</a:t>
            </a:r>
          </a:p>
          <a:p>
            <a:pPr marL="0" indent="0" algn="ctr">
              <a:buNone/>
            </a:pPr>
            <a:r>
              <a:rPr lang="en-US" sz="1500" dirty="0" smtClean="0">
                <a:solidFill>
                  <a:schemeClr val="accent1">
                    <a:lumMod val="75000"/>
                  </a:schemeClr>
                </a:solidFill>
              </a:rPr>
              <a:t>Comprehensive Transaction Data</a:t>
            </a:r>
          </a:p>
          <a:p>
            <a:pPr marL="0" indent="0" algn="ctr">
              <a:buNone/>
            </a:pPr>
            <a:endParaRPr lang="en-US" sz="3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3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19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Columns</a:t>
            </a:r>
          </a:p>
          <a:p>
            <a:pPr marL="0" indent="0" algn="ctr">
              <a:buNone/>
            </a:pPr>
            <a:r>
              <a:rPr lang="en-US" sz="1500" dirty="0" smtClean="0">
                <a:solidFill>
                  <a:schemeClr val="accent1">
                    <a:lumMod val="75000"/>
                  </a:schemeClr>
                </a:solidFill>
              </a:rPr>
              <a:t>Customer demographics and purchase behaviors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3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3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37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Missing Values</a:t>
            </a:r>
          </a:p>
          <a:p>
            <a:pPr marL="0" indent="0" algn="ctr">
              <a:buNone/>
            </a:pPr>
            <a:r>
              <a:rPr lang="en-US" sz="1500" dirty="0" smtClean="0">
                <a:solidFill>
                  <a:schemeClr val="accent1">
                    <a:lumMod val="75000"/>
                  </a:schemeClr>
                </a:solidFill>
              </a:rPr>
              <a:t>Only in the Review Rating Column</a:t>
            </a:r>
          </a:p>
          <a:p>
            <a:pPr marL="0" indent="0" algn="ctr">
              <a:buNone/>
            </a:pPr>
            <a:endParaRPr lang="en-US" sz="15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3108960"/>
            <a:ext cx="4388318" cy="1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7760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474069"/>
            <a:ext cx="10515600" cy="1061741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Data Loading and Preparation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1850" y="2535811"/>
            <a:ext cx="10515600" cy="3553840"/>
          </a:xfrm>
        </p:spPr>
        <p:txBody>
          <a:bodyPr numCol="2">
            <a:normAutofit/>
          </a:bodyPr>
          <a:lstStyle/>
          <a:p>
            <a:endParaRPr lang="en-US" sz="18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Data Loading</a:t>
            </a:r>
            <a:endParaRPr lang="en-US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Imported the dataset into Python using Pandas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Initial Exploration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Checked the structure and summary statistics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Handled Missing Data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Checked for and Imputed Missing values in Review Rating column</a:t>
            </a:r>
          </a:p>
          <a:p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4.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Feature Engineering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Created 2 new columns,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age_group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purchase_freq_days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5.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Redundancy Check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Checked for redundancy among the columns</a:t>
            </a:r>
          </a:p>
          <a:p>
            <a:endParaRPr lang="en-US" sz="1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6.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Data Integration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Connected to PostgreSQL for further analysis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23827" y="2309567"/>
            <a:ext cx="7258639" cy="9427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4077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8" y="842211"/>
            <a:ext cx="4511858" cy="1600200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Revenue by </a:t>
            </a:r>
            <a:b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Gender Analysis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39788" y="2278781"/>
            <a:ext cx="4511858" cy="3811588"/>
          </a:xfrm>
        </p:spPr>
        <p:txBody>
          <a:bodyPr>
            <a:normAutofit/>
          </a:bodyPr>
          <a:lstStyle/>
          <a:p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Key Insights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Male customers generate an a lot more significant amount of revenue as compared to female customers.</a:t>
            </a:r>
          </a:p>
          <a:p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Gender-based marketing strategies could be used to increase the sales more.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775" y="1159843"/>
            <a:ext cx="6464738" cy="3864543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 flipV="1">
            <a:off x="923827" y="2278781"/>
            <a:ext cx="4283440" cy="40214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82336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850" y="1497982"/>
            <a:ext cx="10515600" cy="1071963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Discount Shoppers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1850" y="2723949"/>
            <a:ext cx="10515600" cy="3365701"/>
          </a:xfrm>
        </p:spPr>
        <p:txBody>
          <a:bodyPr>
            <a:normAutofit/>
          </a:bodyPr>
          <a:lstStyle/>
          <a:p>
            <a:endParaRPr lang="en-US" sz="18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Discount shoppers tend to spend above the average</a:t>
            </a:r>
          </a:p>
          <a:p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Smart Shoppers:- </a:t>
            </a:r>
            <a:b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Some customers optimize their purchase value by using discount codes.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Offer Exclusive benefits:-</a:t>
            </a:r>
            <a:b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In order to maximize these profits, we can provide some exclusive benefits to the premium 	shoppers.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923827" y="2318995"/>
            <a:ext cx="4466320" cy="19944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4213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74985"/>
            <a:ext cx="10515600" cy="985336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Top Rated Products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560321"/>
            <a:ext cx="10515600" cy="3433078"/>
          </a:xfrm>
        </p:spPr>
        <p:txBody>
          <a:bodyPr numCol="3"/>
          <a:lstStyle/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Coat</a:t>
            </a:r>
          </a:p>
          <a:p>
            <a:pPr algn="ctr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The highest rated product, it has 3.92 star rating.</a:t>
            </a:r>
          </a:p>
          <a:p>
            <a:pPr algn="ctr"/>
            <a:endParaRPr lang="en-US" sz="18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T-shirt</a:t>
            </a:r>
            <a:endParaRPr lang="en-US" sz="1800" u="sng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Another product with consistently high reviews.</a:t>
            </a: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Jeans</a:t>
            </a:r>
          </a:p>
          <a:p>
            <a:pPr algn="ctr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Highly loved product by customers.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447" t="32344" r="20375" b="58469"/>
          <a:stretch/>
        </p:blipFill>
        <p:spPr>
          <a:xfrm>
            <a:off x="1347535" y="4663439"/>
            <a:ext cx="2666199" cy="46201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228" t="32153" r="20662" b="58469"/>
          <a:stretch/>
        </p:blipFill>
        <p:spPr>
          <a:xfrm>
            <a:off x="4780614" y="4653813"/>
            <a:ext cx="2618072" cy="4716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273" t="32345" r="21684" b="58660"/>
          <a:stretch/>
        </p:blipFill>
        <p:spPr>
          <a:xfrm>
            <a:off x="8325852" y="4653813"/>
            <a:ext cx="2569946" cy="452387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923827" y="2318995"/>
            <a:ext cx="4649200" cy="693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5445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55734"/>
            <a:ext cx="10515600" cy="869833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Subscription: Likely to or not?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79057"/>
            <a:ext cx="10515600" cy="2723949"/>
          </a:xfrm>
        </p:spPr>
        <p:txBody>
          <a:bodyPr numCol="2">
            <a:normAutofit/>
          </a:bodyPr>
          <a:lstStyle/>
          <a:p>
            <a:endParaRPr lang="en-US" dirty="0" smtClean="0"/>
          </a:p>
          <a:p>
            <a:pPr algn="ctr"/>
            <a:endParaRPr lang="en-US" sz="20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Subscribed Customers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Out of a total of 3,480 customers who have more than 4 purchases, 27% were subscribed.</a:t>
            </a:r>
          </a:p>
          <a:p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Unsubscribed Customer</a:t>
            </a:r>
          </a:p>
          <a:p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In comparison customers who haven’t subscribed but have more than 5 previous purchases are significantly higher, at 73%.</a:t>
            </a:r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3651" y="4803006"/>
            <a:ext cx="10010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This  implies that there isn’t enough incentive for customers to subscribe, if even the most loyal and returning customers aren’t subscribing.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923827" y="2309567"/>
            <a:ext cx="7258639" cy="9427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1737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78413" y="901700"/>
            <a:ext cx="4782435" cy="1600200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Customer Segmentation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78413" y="2502521"/>
            <a:ext cx="4217754" cy="3390499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New Customers:-</a:t>
            </a:r>
            <a:b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Out of the total customers, 2% are new, we should focus on converting these to returning customers.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Returning Customers:-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18% are returning customers, we should focus on converting these to loyal customers.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Loyal Customers:-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Lastly, the majority of the customer base, 79% are all loyal customers, we should keep tem satisfied by good products and incentives.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xmlns="" val="1138596326"/>
              </p:ext>
            </p:extLst>
          </p:nvPr>
        </p:nvGraphicFramePr>
        <p:xfrm>
          <a:off x="5622223" y="2389031"/>
          <a:ext cx="4391259" cy="3250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8479857" y="3435598"/>
            <a:ext cx="3590223" cy="5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298004" y="4518040"/>
            <a:ext cx="2637322" cy="3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72888" y="3107519"/>
            <a:ext cx="192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New Customers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98004" y="4256010"/>
            <a:ext cx="263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Returning Customers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9565907" y="5615694"/>
            <a:ext cx="2499360" cy="1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95835" y="5306167"/>
            <a:ext cx="2056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Loyal Customers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923827" y="2310063"/>
            <a:ext cx="3850304" cy="8932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0315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1850" y="1470885"/>
            <a:ext cx="10515600" cy="946835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Business Recommendations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1850" y="2309567"/>
            <a:ext cx="10515600" cy="4145347"/>
          </a:xfrm>
        </p:spPr>
        <p:txBody>
          <a:bodyPr/>
          <a:lstStyle/>
          <a:p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Better </a:t>
            </a:r>
            <a:r>
              <a:rPr lang="en-US" sz="1800" b="1" u="sng" dirty="0">
                <a:solidFill>
                  <a:schemeClr val="accent1">
                    <a:lumMod val="50000"/>
                  </a:schemeClr>
                </a:solidFill>
              </a:rPr>
              <a:t>Subscription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Plans:-</a:t>
            </a:r>
            <a:b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Improve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subscription plan, give better benefits to encourage more people to get subscriptions. </a:t>
            </a:r>
          </a:p>
          <a:p>
            <a:endParaRPr lang="en-US" sz="1600" b="1" dirty="0" smtClean="0"/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Incentives </a:t>
            </a:r>
            <a:r>
              <a:rPr lang="en-US" sz="1800" b="1" u="sng" dirty="0">
                <a:solidFill>
                  <a:schemeClr val="accent1">
                    <a:lumMod val="50000"/>
                  </a:schemeClr>
                </a:solidFill>
              </a:rPr>
              <a:t>for Loyal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Customers:-</a:t>
            </a:r>
            <a:r>
              <a:rPr lang="en-US" sz="1600" u="sng" dirty="0" smtClean="0"/>
              <a:t> </a:t>
            </a:r>
            <a:br>
              <a:rPr lang="en-US" sz="1600" u="sng" dirty="0" smtClean="0"/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Introduce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some kind of incentives for returning customers to move them into the “Loyal” category. </a:t>
            </a:r>
          </a:p>
          <a:p>
            <a:endParaRPr lang="en-US" sz="1600" b="1" dirty="0" smtClean="0"/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Best </a:t>
            </a:r>
            <a:r>
              <a:rPr lang="en-US" sz="1800" b="1" u="sng" dirty="0">
                <a:solidFill>
                  <a:schemeClr val="accent1">
                    <a:lumMod val="50000"/>
                  </a:schemeClr>
                </a:solidFill>
              </a:rPr>
              <a:t>Seller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Products:-</a:t>
            </a:r>
            <a:r>
              <a:rPr lang="en-US" sz="1600" u="sng" dirty="0" smtClean="0"/>
              <a:t> </a:t>
            </a:r>
            <a:br>
              <a:rPr lang="en-US" sz="1600" u="sng" dirty="0" smtClean="0"/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Promote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best-selling/ highest rated products in marketing campaigns. </a:t>
            </a:r>
          </a:p>
          <a:p>
            <a:endParaRPr lang="en-US" sz="1600" b="1" dirty="0" smtClean="0"/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4.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Targeted Marketing:-</a:t>
            </a:r>
            <a:r>
              <a:rPr lang="en-US" sz="1600" b="1" u="sng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br>
              <a:rPr lang="en-US" sz="1600" b="1" u="sng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Focus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on the highest revenue age groups and express-shipping users 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923827" y="2309567"/>
            <a:ext cx="6612754" cy="942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8225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reenGeometric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1">
      <a:majorFont>
        <a:latin typeface="Century"/>
        <a:ea typeface=""/>
        <a:cs typeface=""/>
      </a:majorFont>
      <a:minorFont>
        <a:latin typeface="Bookman Old Style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reenGeometric" id="{AC0293D8-4C44-4CFD-824B-5BDC87620D37}" vid="{194CCD48-A6AC-444F-8AF4-55111E952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GreenGeometric</Template>
  <TotalTime>339</TotalTime>
  <Words>282</Words>
  <Application>Microsoft Office PowerPoint</Application>
  <PresentationFormat>Custom</PresentationFormat>
  <Paragraphs>98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GreenGeometric</vt:lpstr>
      <vt:lpstr>Customer Shopping Insights</vt:lpstr>
      <vt:lpstr>About the Dataset</vt:lpstr>
      <vt:lpstr>Data Loading and Preparation</vt:lpstr>
      <vt:lpstr>Revenue by  Gender Analysis</vt:lpstr>
      <vt:lpstr>Discount Shoppers</vt:lpstr>
      <vt:lpstr>Top Rated Products</vt:lpstr>
      <vt:lpstr>Subscription: Likely to or not?</vt:lpstr>
      <vt:lpstr>Customer Segmentation</vt:lpstr>
      <vt:lpstr>Business Recommendations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chandhini samanthapudi</cp:lastModifiedBy>
  <cp:revision>24</cp:revision>
  <dcterms:created xsi:type="dcterms:W3CDTF">2026-09-19T08:10:06Z</dcterms:created>
  <dcterms:modified xsi:type="dcterms:W3CDTF">2026-10-03T05:16:01Z</dcterms:modified>
</cp:coreProperties>
</file>